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143C78"/>
              </a:gs>
              <a:gs pos="100000">
                <a:srgbClr val="00B0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00B0F0"/>
              </a:gs>
              <a:gs pos="100000">
                <a:srgbClr val="143C78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AI COURSE HELPER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C40F"/>
                </a:solidFill>
              </a:defRPr>
            </a:pPr>
            <a:r>
              <a:t>Assistant Intelligent de Création de Cours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F5F7FA"/>
                </a:solidFill>
              </a:defRPr>
            </a:pPr>
            <a:r>
              <a:t>Projet Académique Odoo – Sara El Otmani</a:t>
            </a:r>
          </a:p>
          <a:p>
            <a:r>
              <a:t>Présenté à l'Enseignant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371600"/>
            <a:ext cx="1216152" cy="1216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8E44AD"/>
              </a:gs>
              <a:gs pos="100000">
                <a:srgbClr val="E74C3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8E44AD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C40F"/>
                </a:solidFill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I. Introduction &amp; Contexte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F7FA"/>
                </a:solidFill>
              </a:defRPr>
            </a:pPr>
            <a:r>
              <a:t>Cadrage du Projet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572000"/>
            <a:ext cx="6702552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📚 Contexte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Projet académique basé sur l'écosystème Odoo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Objectif principal : Assistance pédagogique intelligente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Intégration native dans l'ERP Odoo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Approche centrée sur l'expérience enseignant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🎯 Problématique Identifiée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Processus de création pédagogique chronophage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Absence d'outils d'IA intégrés dans les ERP éducatifs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Variabilité de la qualité des contenus pédagogiques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Besoin de standardisation des méthodes d'enseignement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34495E"/>
              </a:gs>
              <a:gs pos="100000">
                <a:srgbClr val="2ECC71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2ECC71"/>
              </a:gs>
              <a:gs pos="100000">
                <a:srgbClr val="34495E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C40F"/>
                </a:solidFill>
              </a:defRPr>
            </a:pPr>
            <a: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II. Solution Innovante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F7FA"/>
                </a:solidFill>
              </a:defRPr>
            </a:pPr>
            <a:r>
              <a:t>AI Course Helper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572000"/>
            <a:ext cx="6702552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FFFFFF"/>
              </a:gs>
            </a:gsLst>
            <a:lin ang="189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3C78"/>
                </a:solidFill>
              </a:defRPr>
            </a:pPr>
            <a:r>
              <a:t>🚀 Fonctionnalités Principales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1828800"/>
          </a:xfrm>
          <a:prstGeom prst="roundRect">
            <a:avLst/>
          </a:prstGeom>
          <a:solidFill>
            <a:srgbClr val="00B0F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Fonctionnalité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Génération automatique de descriptions pédagogiques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657600" cy="18288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Fonctionnalité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Interface intuitive dédiée aux enseignants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657600" cy="18288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Fonctionnalité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Adaptation aux différents niveaux académiques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45920"/>
            <a:ext cx="3657600" cy="1828800"/>
          </a:xfrm>
          <a:prstGeom prst="roundRect">
            <a:avLst/>
          </a:prstGeom>
          <a:solidFill>
            <a:srgbClr val="143C7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Fonctionnalité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Gestion centralisée dans Odoo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45920"/>
            <a:ext cx="3657600" cy="1828800"/>
          </a:xfrm>
          <a:prstGeom prst="roundRect">
            <a:avLst/>
          </a:prstGeom>
          <a:solidFill>
            <a:srgbClr val="00B0F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Fonctionnalité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Export des contenus générés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657600" cy="18288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Fonctionnalité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Historique des créations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🔄 Processus d'Utilisation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1828800"/>
            <a:ext cx="45720" cy="3657600"/>
          </a:xfrm>
          <a:prstGeom prst="rect">
            <a:avLst/>
          </a:prstGeom>
          <a:solidFill>
            <a:srgbClr val="143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1828800"/>
            <a:ext cx="457200" cy="457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495E"/>
                </a:solidFill>
              </a:defRPr>
            </a:pPr>
            <a:r>
              <a:t>Création d'un nouveau cours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2926080"/>
            <a:ext cx="457200" cy="457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30175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495E"/>
                </a:solidFill>
              </a:defRPr>
            </a:pPr>
            <a:r>
              <a:t>Sélection de la matière et du niveau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457200" cy="457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4114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495E"/>
                </a:solidFill>
              </a:defRPr>
            </a:pPr>
            <a:r>
              <a:t>Génération IA avec un clic</a:t>
            </a:r>
          </a:p>
        </p:txBody>
      </p:sp>
      <p:sp>
        <p:nvSpPr>
          <p:cNvPr id="14" name="Oval 13"/>
          <p:cNvSpPr/>
          <p:nvPr/>
        </p:nvSpPr>
        <p:spPr>
          <a:xfrm>
            <a:off x="1828800" y="5120640"/>
            <a:ext cx="457200" cy="457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521207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495E"/>
                </a:solidFill>
              </a:defRPr>
            </a:pPr>
            <a:r>
              <a:t>Personnalisation du contenu</a:t>
            </a:r>
          </a:p>
        </p:txBody>
      </p:sp>
      <p:sp>
        <p:nvSpPr>
          <p:cNvPr id="17" name="Oval 16"/>
          <p:cNvSpPr/>
          <p:nvPr/>
        </p:nvSpPr>
        <p:spPr>
          <a:xfrm>
            <a:off x="1828800" y="6217920"/>
            <a:ext cx="457200" cy="457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630935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217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495E"/>
                </a:solidFill>
              </a:defRPr>
            </a:pPr>
            <a:r>
              <a:t>Validation et publication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8E44AD"/>
              </a:gs>
              <a:gs pos="100000">
                <a:srgbClr val="E74C3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8E44AD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C40F"/>
                </a:solidFill>
              </a:defRPr>
            </a:pPr>
            <a:r>
              <a:t>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III. Architecture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F7FA"/>
                </a:solidFill>
              </a:defRPr>
            </a:pPr>
            <a:r>
              <a:t>Conception &amp; Développement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572000"/>
            <a:ext cx="6702552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🏗️ Stack Technologique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Odoo 16/17 – Framework MVC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Python 3.8+ – Logique métier et IA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XML – Interfaces utilisateur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PostgreSQL – Base de données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API REST – Évolutivité future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⚙️ Structure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__manifest__.py – Configuration et dépendances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models/course.py – Modèles et logique IA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views/course_view.xml – Interface utilisateur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security/ir.model.access.csv – Gestion des permissions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data/demo.xml – Données de démonstration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🤖 Simulation d'Intelligence Artificielle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Moteur de règles prédéfinies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Adaptation contextuelle (niveau, matière)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Templates de contenu pédagogique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Architecture prête pour l'intégration OpenAI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Système évolutif et modulaire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8E44AD"/>
              </a:gs>
              <a:gs pos="100000">
                <a:srgbClr val="E74C3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8E44AD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C40F"/>
                </a:solidFill>
              </a:defRPr>
            </a:pPr>
            <a:r>
              <a:t>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IV. Résultats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F7FA"/>
                </a:solidFill>
              </a:defRPr>
            </a:pPr>
            <a:r>
              <a:t>Performance &amp;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572000"/>
            <a:ext cx="6702552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✅ Tests &amp; Validation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✓ Installation et configuration réussies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✓ Création de cours fonctionnelle à 100%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✓ Génération IA stable et prédictible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✓ Interface responsive et intuitive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✓ Compatibilité Odoo confirmée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📊 Résultats Concrets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Gain de temps estimé : 70% sur la création de contenu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Qualité pédagogique standardisée et améliorée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Adoption facilitée pour les enseignants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Solution scalable pour institution académique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Base solide pour extensions futures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143C78"/>
              </a:gs>
              <a:gs pos="100000">
                <a:srgbClr val="00B0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00B0F0"/>
              </a:gs>
              <a:gs pos="100000">
                <a:srgbClr val="143C78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V. Conclusion &amp; 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F7FA"/>
                </a:solidFill>
              </a:defRPr>
            </a:pPr>
            <a:r>
              <a:t>Bilan &amp; Futur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572000"/>
            <a:ext cx="6702552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🎓 Acquis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Maîtrise avancée du développement Odoo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Intégration réussie d'IA dans un ERP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Conception d'une solution pédagogique innovante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Respect des bonnes pratiques de développement</a:t>
            </a:r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t>‣ Documentation complète et professionnelle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🔮 Perspectives d'Évolution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5415265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rPr dirty="0"/>
              <a:t>‣ </a:t>
            </a:r>
            <a:r>
              <a:rPr dirty="0" err="1"/>
              <a:t>Génération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de quiz et </a:t>
            </a:r>
            <a:r>
              <a:rPr dirty="0" err="1"/>
              <a:t>exercices</a:t>
            </a:r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rPr dirty="0"/>
              <a:t>‣ </a:t>
            </a:r>
            <a:r>
              <a:rPr dirty="0" err="1"/>
              <a:t>Système</a:t>
            </a:r>
            <a:r>
              <a:rPr dirty="0"/>
              <a:t> de </a:t>
            </a:r>
            <a:r>
              <a:rPr dirty="0" err="1"/>
              <a:t>recommandation</a:t>
            </a:r>
            <a:r>
              <a:rPr dirty="0"/>
              <a:t> de </a:t>
            </a:r>
            <a:r>
              <a:rPr dirty="0" err="1"/>
              <a:t>ressources</a:t>
            </a:r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rPr dirty="0"/>
              <a:t>‣ Interface </a:t>
            </a:r>
            <a:r>
              <a:rPr dirty="0" err="1"/>
              <a:t>étudiante</a:t>
            </a:r>
            <a:r>
              <a:rPr dirty="0"/>
              <a:t> avec </a:t>
            </a:r>
            <a:r>
              <a:rPr dirty="0" err="1"/>
              <a:t>parcours</a:t>
            </a:r>
            <a:r>
              <a:rPr dirty="0"/>
              <a:t> </a:t>
            </a:r>
            <a:r>
              <a:rPr dirty="0" err="1"/>
              <a:t>personnalisé</a:t>
            </a:r>
            <a:endParaRPr dirty="0"/>
          </a:p>
          <a:p>
            <a:pPr>
              <a:spcAft>
                <a:spcPts val="1200"/>
              </a:spcAft>
              <a:defRPr sz="2000" b="1">
                <a:solidFill>
                  <a:srgbClr val="34495E"/>
                </a:solidFill>
              </a:defRPr>
            </a:pPr>
            <a:r>
              <a:rPr dirty="0"/>
              <a:t>‣ Analytics sur </a:t>
            </a:r>
            <a:r>
              <a:rPr dirty="0" err="1"/>
              <a:t>l'utilisation</a:t>
            </a:r>
            <a:r>
              <a:rPr dirty="0"/>
              <a:t> </a:t>
            </a:r>
            <a:r>
              <a:rPr dirty="0" err="1"/>
              <a:t>pédagogique</a:t>
            </a:r>
            <a:endParaRPr dirty="0"/>
          </a:p>
        </p:txBody>
      </p:sp>
      <p:sp>
        <p:nvSpPr>
          <p:cNvPr id="8" name="Right Triangle 7"/>
          <p:cNvSpPr/>
          <p:nvPr/>
        </p:nvSpPr>
        <p:spPr>
          <a:xfrm rot="10800000">
            <a:off x="10972800" y="5943600"/>
            <a:ext cx="914400" cy="91440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34495E"/>
              </a:gs>
              <a:gs pos="100000">
                <a:srgbClr val="2ECC71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2ECC71"/>
              </a:gs>
              <a:gs pos="100000">
                <a:srgbClr val="34495E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0" y="0"/>
            <a:ext cx="274320" cy="2743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F7FA"/>
                </a:solidFill>
              </a:defRPr>
            </a:pPr>
            <a:r>
              <a:t>Questions &amp;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572000"/>
            <a:ext cx="6702552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8E44AD"/>
              </a:gs>
              <a:gs pos="100000">
                <a:srgbClr val="E74C3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8E44AD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9793" y="2743200"/>
            <a:ext cx="376936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dirty="0"/>
              <a:t>Sara El </a:t>
            </a:r>
            <a:r>
              <a:rPr dirty="0" err="1"/>
              <a:t>Otmani</a:t>
            </a:r>
            <a:endParaRPr dirty="0"/>
          </a:p>
          <a:p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Académique</a:t>
            </a:r>
            <a:r>
              <a:rPr dirty="0"/>
              <a:t> – AI Course Helper</a:t>
            </a:r>
          </a:p>
          <a:p>
            <a:r>
              <a:rPr dirty="0" err="1"/>
              <a:t>saraelotmani</a:t>
            </a:r>
            <a:r>
              <a:rPr lang="fr-FR" dirty="0"/>
              <a:t>2020</a:t>
            </a:r>
            <a:r>
              <a:rPr dirty="0"/>
              <a:t>@</a:t>
            </a:r>
            <a:r>
              <a:rPr lang="fr-FR" dirty="0" err="1"/>
              <a:t>gmail</a:t>
            </a:r>
            <a:r>
              <a:rPr dirty="0"/>
              <a:t>.com</a:t>
            </a:r>
          </a:p>
        </p:txBody>
      </p:sp>
      <p:sp>
        <p:nvSpPr>
          <p:cNvPr id="5" name="Rounded Rectangle 4"/>
          <p:cNvSpPr/>
          <p:nvPr/>
        </p:nvSpPr>
        <p:spPr>
          <a:xfrm rot="2700000">
            <a:off x="1789037" y="4810577"/>
            <a:ext cx="91440" cy="914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700000">
            <a:off x="7283199" y="2117544"/>
            <a:ext cx="91440" cy="914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2700000">
            <a:off x="9218654" y="2296486"/>
            <a:ext cx="91440" cy="914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2700000">
            <a:off x="7774661" y="2250815"/>
            <a:ext cx="91440" cy="914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2700000">
            <a:off x="8687173" y="3551034"/>
            <a:ext cx="91440" cy="914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482</Words>
  <Application>Microsoft Office PowerPoint</Application>
  <PresentationFormat>Personnalisé</PresentationFormat>
  <Paragraphs>99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HP</dc:creator>
  <cp:keywords/>
  <dc:description>generated using python-pptx</dc:description>
  <cp:lastModifiedBy>SARA EL OTMANI</cp:lastModifiedBy>
  <cp:revision>2</cp:revision>
  <dcterms:created xsi:type="dcterms:W3CDTF">2013-01-27T09:14:16Z</dcterms:created>
  <dcterms:modified xsi:type="dcterms:W3CDTF">2026-01-19T13:30:48Z</dcterms:modified>
  <cp:category/>
</cp:coreProperties>
</file>